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4" d="100"/>
          <a:sy n="104" d="100"/>
        </p:scale>
        <p:origin x="834" y="1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600" y="381000"/>
            <a:ext cx="10972800" cy="201422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100" b="1" dirty="0">
                <a:solidFill>
                  <a:srgbClr val="245D74"/>
                </a:solidFill>
                <a:latin typeface="Arial"/>
              </a:rPr>
              <a:t>THE CONNECTION TO GDT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838200"/>
            <a:ext cx="10972800" cy="521462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>
              <a:lnSpc>
                <a:spcPts val="3906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202124"/>
                </a:solidFill>
                <a:latin typeface="Arial"/>
              </a:rPr>
              <a:t>From object history to patient history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917700"/>
            <a:ext cx="5130800" cy="3294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>
              <a:lnSpc>
                <a:spcPts val="2394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45D74"/>
                </a:solidFill>
                <a:latin typeface="Arial"/>
              </a:rPr>
              <a:t>The familiar idea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2527300"/>
            <a:ext cx="5041900" cy="345440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202124"/>
                </a:solidFill>
                <a:latin typeface="Arial"/>
              </a:rPr>
              <a:t>Keep a history, not just the latest record.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3114040"/>
            <a:ext cx="5041900" cy="665480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202124"/>
                </a:solidFill>
                <a:latin typeface="Arial"/>
              </a:rPr>
              <a:t>Add a new entry instead of rewriting the</a:t>
            </a:r>
          </a:p>
          <a:p>
            <a:pPr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202124"/>
                </a:solidFill>
                <a:latin typeface="Arial"/>
              </a:rPr>
              <a:t>past.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4020820"/>
            <a:ext cx="5041900" cy="345440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202124"/>
                </a:solidFill>
                <a:latin typeface="Arial"/>
              </a:rPr>
              <a:t>Use opaque keys and encrypted storage.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51600" y="1917700"/>
            <a:ext cx="5130800" cy="3294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>
              <a:lnSpc>
                <a:spcPts val="2394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45D74"/>
                </a:solidFill>
                <a:latin typeface="Arial"/>
              </a:rPr>
              <a:t>The patient-record question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51600" y="2527300"/>
            <a:ext cx="5041900" cy="345440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202124"/>
                </a:solidFill>
                <a:latin typeface="Arial"/>
              </a:rPr>
              <a:t>Could history support disrupted care?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51600" y="3114040"/>
            <a:ext cx="5041900" cy="345440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202124"/>
                </a:solidFill>
                <a:latin typeface="Arial"/>
              </a:rPr>
              <a:t>Open it only with two authorized factors.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1600" y="3700779"/>
            <a:ext cx="5041900" cy="345440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202124"/>
                </a:solidFill>
                <a:latin typeface="Arial"/>
              </a:rPr>
              <a:t>Check the history before showing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5651500"/>
            <a:ext cx="10972800" cy="265430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>
              <a:lnSpc>
                <a:spcPts val="1889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D6268"/>
                </a:solidFill>
                <a:latin typeface="Arial"/>
              </a:rPr>
              <a:t>Concepts inspired by GDT; an independent implementation, not a source-code fork.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6464300"/>
            <a:ext cx="8636000" cy="185420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D6268"/>
                </a:solidFill>
                <a:latin typeface="Arial"/>
              </a:rPr>
              <a:t>Global Patient Record Project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64300"/>
            <a:ext cx="609600" cy="185420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D6268"/>
                </a:solidFill>
                <a:latin typeface="Arial"/>
              </a:rPr>
              <a:t>1 /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600" y="381000"/>
            <a:ext cx="10972800" cy="201422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100" b="1" dirty="0">
                <a:solidFill>
                  <a:srgbClr val="245D74"/>
                </a:solidFill>
                <a:latin typeface="Arial"/>
              </a:rPr>
              <a:t>WHAT IS IMPLEMENTED TODAY 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838200"/>
            <a:ext cx="10972800" cy="521462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>
              <a:lnSpc>
                <a:spcPts val="3906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202124"/>
                </a:solidFill>
                <a:latin typeface="Arial"/>
              </a:rPr>
              <a:t>Architecture: the current local prototype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460500"/>
            <a:ext cx="3683000" cy="201422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D6268"/>
                </a:solidFill>
                <a:latin typeface="Arial"/>
              </a:rPr>
              <a:t>BROWSER-HELD DEMO INPUTS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1727200"/>
            <a:ext cx="1727200" cy="88900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D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62000" y="1841500"/>
            <a:ext cx="1422400" cy="473456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>
              <a:lnSpc>
                <a:spcPts val="1764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45D74"/>
                </a:solidFill>
                <a:latin typeface="Arial"/>
              </a:rPr>
              <a:t>Synthetic</a:t>
            </a:r>
          </a:p>
          <a:p>
            <a:pPr>
              <a:lnSpc>
                <a:spcPts val="1764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45D74"/>
                </a:solidFill>
                <a:latin typeface="Arial"/>
              </a:rPr>
              <a:t>patient factor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2336800"/>
            <a:ext cx="1422400" cy="201422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02124"/>
                </a:solidFill>
                <a:latin typeface="Arial"/>
              </a:rPr>
              <a:t>Random demo token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473200" y="2616200"/>
            <a:ext cx="0" cy="304800"/>
          </a:xfrm>
          <a:prstGeom prst="line">
            <a:avLst/>
          </a:prstGeom>
          <a:ln w="20320">
            <a:solidFill>
              <a:srgbClr val="245D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Isosceles Triangle 8"/>
          <p:cNvSpPr/>
          <p:nvPr/>
        </p:nvSpPr>
        <p:spPr>
          <a:xfrm rot="10800000">
            <a:off x="1422400" y="2819400"/>
            <a:ext cx="101600" cy="101600"/>
          </a:xfrm>
          <a:prstGeom prst="triangle">
            <a:avLst/>
          </a:prstGeom>
          <a:solidFill>
            <a:srgbClr val="245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2565400" y="1727200"/>
            <a:ext cx="1727200" cy="88900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D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717800" y="1841500"/>
            <a:ext cx="1422400" cy="473456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>
              <a:lnSpc>
                <a:spcPts val="1764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45D74"/>
                </a:solidFill>
                <a:latin typeface="Arial"/>
              </a:rPr>
              <a:t>Clinician</a:t>
            </a:r>
          </a:p>
          <a:p>
            <a:pPr>
              <a:lnSpc>
                <a:spcPts val="1764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45D74"/>
                </a:solidFill>
                <a:latin typeface="Arial"/>
              </a:rPr>
              <a:t>credential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17800" y="2336800"/>
            <a:ext cx="1422400" cy="201422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02124"/>
                </a:solidFill>
                <a:latin typeface="Arial"/>
              </a:rPr>
              <a:t>Demo private key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429000" y="2616200"/>
            <a:ext cx="0" cy="304800"/>
          </a:xfrm>
          <a:prstGeom prst="line">
            <a:avLst/>
          </a:prstGeom>
          <a:ln w="20320">
            <a:solidFill>
              <a:srgbClr val="245D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Isosceles Triangle 13"/>
          <p:cNvSpPr/>
          <p:nvPr/>
        </p:nvSpPr>
        <p:spPr>
          <a:xfrm rot="10800000">
            <a:off x="3378200" y="2819400"/>
            <a:ext cx="101600" cy="101600"/>
          </a:xfrm>
          <a:prstGeom prst="triangle">
            <a:avLst/>
          </a:prstGeom>
          <a:solidFill>
            <a:srgbClr val="245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613400" y="1765300"/>
            <a:ext cx="5969000" cy="217424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>
              <a:lnSpc>
                <a:spcPts val="1512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45D74"/>
                </a:solidFill>
                <a:latin typeface="Arial"/>
              </a:rPr>
              <a:t>BOTH REQUIRED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13400" y="2044700"/>
            <a:ext cx="5969000" cy="281432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>
              <a:lnSpc>
                <a:spcPts val="2016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202124"/>
                </a:solidFill>
                <a:latin typeface="Arial"/>
              </a:rPr>
              <a:t>Either factor alone cannot unlock the record.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600" y="2921000"/>
            <a:ext cx="3683000" cy="228600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D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12800" y="3149600"/>
            <a:ext cx="3276600" cy="313436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>
              <a:lnSpc>
                <a:spcPts val="2268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45D74"/>
                </a:solidFill>
                <a:latin typeface="Arial"/>
              </a:rPr>
              <a:t>Browser application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800" y="3619500"/>
            <a:ext cx="3276600" cy="697484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>
              <a:lnSpc>
                <a:spcPts val="1764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02124"/>
                </a:solidFill>
                <a:latin typeface="Arial"/>
              </a:rPr>
              <a:t>Enroll and add synthetic entries</a:t>
            </a:r>
          </a:p>
          <a:p>
            <a:pPr>
              <a:lnSpc>
                <a:spcPts val="1764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02124"/>
                </a:solidFill>
                <a:latin typeface="Arial"/>
              </a:rPr>
              <a:t>Request and display history</a:t>
            </a:r>
          </a:p>
          <a:p>
            <a:pPr>
              <a:lnSpc>
                <a:spcPts val="1764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02124"/>
                </a:solidFill>
                <a:latin typeface="Arial"/>
              </a:rPr>
              <a:t>Hold both demo factors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2800" y="4851400"/>
            <a:ext cx="3276600" cy="201422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D6268"/>
                </a:solidFill>
                <a:latin typeface="Arial"/>
              </a:rPr>
              <a:t>Plain HTML / CSS / JS; localStorage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13400" y="2921000"/>
            <a:ext cx="2921000" cy="228600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D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816600" y="3149600"/>
            <a:ext cx="2514600" cy="313436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>
              <a:lnSpc>
                <a:spcPts val="2268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45D74"/>
                </a:solidFill>
                <a:latin typeface="Arial"/>
              </a:rPr>
              <a:t>Local record service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16600" y="3619500"/>
            <a:ext cx="2514600" cy="921512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>
              <a:lnSpc>
                <a:spcPts val="1764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02124"/>
                </a:solidFill>
                <a:latin typeface="Arial"/>
              </a:rPr>
              <a:t>Check both factors</a:t>
            </a:r>
          </a:p>
          <a:p>
            <a:pPr>
              <a:lnSpc>
                <a:spcPts val="1764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02124"/>
                </a:solidFill>
                <a:latin typeface="Arial"/>
              </a:rPr>
              <a:t>Encrypt and sign entries</a:t>
            </a:r>
          </a:p>
          <a:p>
            <a:pPr>
              <a:lnSpc>
                <a:spcPts val="1764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02124"/>
                </a:solidFill>
                <a:latin typeface="Arial"/>
              </a:rPr>
              <a:t>Verify linked history</a:t>
            </a:r>
          </a:p>
          <a:p>
            <a:pPr>
              <a:lnSpc>
                <a:spcPts val="1764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02124"/>
                </a:solidFill>
                <a:latin typeface="Arial"/>
              </a:rPr>
              <a:t>Return plaintext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16600" y="4851400"/>
            <a:ext cx="2514600" cy="201422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D6268"/>
                </a:solidFill>
                <a:latin typeface="Arial"/>
              </a:rPr>
              <a:t>Node.js API on loopback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626600" y="2921000"/>
            <a:ext cx="1955800" cy="228600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D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829800" y="3149600"/>
            <a:ext cx="1549400" cy="313436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>
              <a:lnSpc>
                <a:spcPts val="2268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45D74"/>
                </a:solidFill>
                <a:latin typeface="Arial"/>
              </a:rPr>
              <a:t>BlobStore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29800" y="3619500"/>
            <a:ext cx="1549400" cy="921512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>
              <a:lnSpc>
                <a:spcPts val="1764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02124"/>
                </a:solidFill>
                <a:latin typeface="Arial"/>
              </a:rPr>
              <a:t>Local-file adapter</a:t>
            </a:r>
          </a:p>
          <a:p>
            <a:pPr>
              <a:lnSpc>
                <a:spcPts val="1764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02124"/>
                </a:solidFill>
                <a:latin typeface="Arial"/>
              </a:rPr>
              <a:t>Encrypted state</a:t>
            </a:r>
          </a:p>
          <a:p>
            <a:pPr>
              <a:lnSpc>
                <a:spcPts val="1764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02124"/>
                </a:solidFill>
                <a:latin typeface="Arial"/>
              </a:rPr>
              <a:t>FHIR fragments</a:t>
            </a:r>
          </a:p>
          <a:p>
            <a:pPr>
              <a:lnSpc>
                <a:spcPts val="1764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02124"/>
                </a:solidFill>
                <a:latin typeface="Arial"/>
              </a:rPr>
              <a:t>Provenance events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29800" y="4851400"/>
            <a:ext cx="1549400" cy="201422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D6268"/>
                </a:solidFill>
                <a:latin typeface="Arial"/>
              </a:rPr>
              <a:t>.data\web\*.json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94200" y="3200400"/>
            <a:ext cx="1117600" cy="377444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45D74"/>
                </a:solidFill>
                <a:latin typeface="Arial"/>
              </a:rPr>
              <a:t>Both factors</a:t>
            </a:r>
          </a:p>
          <a:p>
            <a:pPr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45D74"/>
                </a:solidFill>
                <a:latin typeface="Arial"/>
              </a:rPr>
              <a:t>+ request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292600" y="3708400"/>
            <a:ext cx="1320800" cy="0"/>
          </a:xfrm>
          <a:prstGeom prst="line">
            <a:avLst/>
          </a:prstGeom>
          <a:ln w="20320">
            <a:solidFill>
              <a:srgbClr val="245D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Isosceles Triangle 30"/>
          <p:cNvSpPr/>
          <p:nvPr/>
        </p:nvSpPr>
        <p:spPr>
          <a:xfrm rot="5400000">
            <a:off x="5511800" y="3657600"/>
            <a:ext cx="101600" cy="101600"/>
          </a:xfrm>
          <a:prstGeom prst="triangle">
            <a:avLst/>
          </a:prstGeom>
          <a:solidFill>
            <a:srgbClr val="245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394200" y="4203700"/>
            <a:ext cx="1117600" cy="553466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45D74"/>
                </a:solidFill>
                <a:latin typeface="Arial"/>
              </a:rPr>
              <a:t>Verified</a:t>
            </a:r>
          </a:p>
          <a:p>
            <a:pPr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45D74"/>
                </a:solidFill>
                <a:latin typeface="Arial"/>
              </a:rPr>
              <a:t>plaintext</a:t>
            </a:r>
          </a:p>
          <a:p>
            <a:pPr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45D74"/>
                </a:solidFill>
                <a:latin typeface="Arial"/>
              </a:rPr>
              <a:t>history</a:t>
            </a:r>
          </a:p>
        </p:txBody>
      </p:sp>
      <p:cxnSp>
        <p:nvCxnSpPr>
          <p:cNvPr id="33" name="Connector 32"/>
          <p:cNvCxnSpPr/>
          <p:nvPr/>
        </p:nvCxnSpPr>
        <p:spPr>
          <a:xfrm flipH="1">
            <a:off x="4292600" y="4826000"/>
            <a:ext cx="1320800" cy="0"/>
          </a:xfrm>
          <a:prstGeom prst="line">
            <a:avLst/>
          </a:prstGeom>
          <a:ln w="20320">
            <a:solidFill>
              <a:srgbClr val="245D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Isosceles Triangle 33"/>
          <p:cNvSpPr/>
          <p:nvPr/>
        </p:nvSpPr>
        <p:spPr>
          <a:xfrm rot="16200000">
            <a:off x="4292600" y="4775200"/>
            <a:ext cx="101600" cy="101600"/>
          </a:xfrm>
          <a:prstGeom prst="triangle">
            <a:avLst/>
          </a:prstGeom>
          <a:solidFill>
            <a:srgbClr val="245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636000" y="3200400"/>
            <a:ext cx="889000" cy="377444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45D74"/>
                </a:solidFill>
                <a:latin typeface="Arial"/>
              </a:rPr>
              <a:t>Write</a:t>
            </a:r>
          </a:p>
          <a:p>
            <a:pPr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45D74"/>
                </a:solidFill>
                <a:latin typeface="Arial"/>
              </a:rPr>
              <a:t>ciphertext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8534400" y="3708400"/>
            <a:ext cx="1092200" cy="0"/>
          </a:xfrm>
          <a:prstGeom prst="line">
            <a:avLst/>
          </a:prstGeom>
          <a:ln w="20320">
            <a:solidFill>
              <a:srgbClr val="245D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Isosceles Triangle 36"/>
          <p:cNvSpPr/>
          <p:nvPr/>
        </p:nvSpPr>
        <p:spPr>
          <a:xfrm rot="5400000">
            <a:off x="9525000" y="3657600"/>
            <a:ext cx="101600" cy="101600"/>
          </a:xfrm>
          <a:prstGeom prst="triangle">
            <a:avLst/>
          </a:prstGeom>
          <a:solidFill>
            <a:srgbClr val="245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8636000" y="4203700"/>
            <a:ext cx="889000" cy="377444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45D74"/>
                </a:solidFill>
                <a:latin typeface="Arial"/>
              </a:rPr>
              <a:t>Read</a:t>
            </a:r>
          </a:p>
          <a:p>
            <a:pPr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45D74"/>
                </a:solidFill>
                <a:latin typeface="Arial"/>
              </a:rPr>
              <a:t>ciphertext</a:t>
            </a:r>
          </a:p>
        </p:txBody>
      </p:sp>
      <p:cxnSp>
        <p:nvCxnSpPr>
          <p:cNvPr id="39" name="Connector 38"/>
          <p:cNvCxnSpPr/>
          <p:nvPr/>
        </p:nvCxnSpPr>
        <p:spPr>
          <a:xfrm flipH="1">
            <a:off x="8534400" y="4826000"/>
            <a:ext cx="1092200" cy="0"/>
          </a:xfrm>
          <a:prstGeom prst="line">
            <a:avLst/>
          </a:prstGeom>
          <a:ln w="20320">
            <a:solidFill>
              <a:srgbClr val="245D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Isosceles Triangle 39"/>
          <p:cNvSpPr/>
          <p:nvPr/>
        </p:nvSpPr>
        <p:spPr>
          <a:xfrm rot="16200000">
            <a:off x="8534400" y="4775200"/>
            <a:ext cx="101600" cy="101600"/>
          </a:xfrm>
          <a:prstGeom prst="triangle">
            <a:avLst/>
          </a:prstGeom>
          <a:solidFill>
            <a:srgbClr val="245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09600" y="5651500"/>
            <a:ext cx="10972800" cy="265430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>
              <a:lnSpc>
                <a:spcPts val="1889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D6268"/>
                </a:solidFill>
                <a:latin typeface="Arial"/>
              </a:rPr>
              <a:t>No database engine or cloud service. Demo-only secrets; capsule metadata remains visible.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9600" y="6464300"/>
            <a:ext cx="8636000" cy="185420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D6268"/>
                </a:solidFill>
                <a:latin typeface="Arial"/>
              </a:rPr>
              <a:t>Global Patient Record Project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0" y="6464300"/>
            <a:ext cx="609600" cy="185420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D6268"/>
                </a:solidFill>
                <a:latin typeface="Arial"/>
              </a:rPr>
              <a:t>2 /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600" y="381000"/>
            <a:ext cx="10972800" cy="201422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100" b="1" dirty="0">
                <a:solidFill>
                  <a:srgbClr val="245D74"/>
                </a:solidFill>
                <a:latin typeface="Arial"/>
              </a:rPr>
              <a:t>SIDE-BY-SIDE COMPARISON 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838200"/>
            <a:ext cx="10972800" cy="521462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>
              <a:lnSpc>
                <a:spcPts val="3906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202124"/>
                </a:solidFill>
                <a:latin typeface="Arial"/>
              </a:rPr>
              <a:t>What is common with GDT - and what changes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854200"/>
            <a:ext cx="2209800" cy="313436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>
              <a:lnSpc>
                <a:spcPts val="2268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45D74"/>
                </a:solidFill>
                <a:latin typeface="Arial"/>
              </a:rPr>
              <a:t>Pattern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24200" y="1854200"/>
            <a:ext cx="4076700" cy="313436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>
              <a:lnSpc>
                <a:spcPts val="2268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45D74"/>
                </a:solidFill>
                <a:latin typeface="Arial"/>
              </a:rPr>
              <a:t>GDT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05700" y="1854200"/>
            <a:ext cx="4076700" cy="313436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>
              <a:lnSpc>
                <a:spcPts val="2268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45D74"/>
                </a:solidFill>
                <a:latin typeface="Arial"/>
              </a:rPr>
              <a:t>Patient record project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425700"/>
            <a:ext cx="2209800" cy="297434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>
              <a:lnSpc>
                <a:spcPts val="2142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02124"/>
                </a:solidFill>
                <a:latin typeface="Arial"/>
              </a:rPr>
              <a:t>Workflow + lookup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24200" y="2425700"/>
            <a:ext cx="4076700" cy="56946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>
              <a:lnSpc>
                <a:spcPts val="2142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202124"/>
                </a:solidFill>
                <a:latin typeface="Arial"/>
              </a:rPr>
              <a:t>Create, append, read;</a:t>
            </a:r>
          </a:p>
          <a:p>
            <a:pPr>
              <a:lnSpc>
                <a:spcPts val="2142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202124"/>
                </a:solidFill>
                <a:latin typeface="Arial"/>
              </a:rPr>
              <a:t>opaque record keys.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05700" y="2425700"/>
            <a:ext cx="4076700" cy="56946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>
              <a:lnSpc>
                <a:spcPts val="2142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202124"/>
                </a:solidFill>
                <a:latin typeface="Arial"/>
              </a:rPr>
              <a:t>Enroll, append, verify;</a:t>
            </a:r>
          </a:p>
          <a:p>
            <a:pPr>
              <a:lnSpc>
                <a:spcPts val="2142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202124"/>
                </a:solidFill>
                <a:latin typeface="Arial"/>
              </a:rPr>
              <a:t>no demographic search.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3185668"/>
            <a:ext cx="2209800" cy="297434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>
              <a:lnSpc>
                <a:spcPts val="2142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02124"/>
                </a:solidFill>
                <a:latin typeface="Arial"/>
              </a:rPr>
              <a:t>Stored history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24200" y="3185668"/>
            <a:ext cx="4076700" cy="56946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>
              <a:lnSpc>
                <a:spcPts val="2142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202124"/>
                </a:solidFill>
                <a:latin typeface="Arial"/>
              </a:rPr>
              <a:t>Provenance + attachments</a:t>
            </a:r>
          </a:p>
          <a:p>
            <a:pPr>
              <a:lnSpc>
                <a:spcPts val="2142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202124"/>
                </a:solidFill>
                <a:latin typeface="Arial"/>
              </a:rPr>
              <a:t>in encrypted blobs.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05700" y="3185668"/>
            <a:ext cx="4076700" cy="56946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>
              <a:lnSpc>
                <a:spcPts val="2142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202124"/>
                </a:solidFill>
                <a:latin typeface="Arial"/>
              </a:rPr>
              <a:t>FHIR fragments + signed,</a:t>
            </a:r>
          </a:p>
          <a:p>
            <a:pPr>
              <a:lnSpc>
                <a:spcPts val="2142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202124"/>
                </a:solidFill>
                <a:latin typeface="Arial"/>
              </a:rPr>
              <a:t>parent-linked encrypted events.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3945636"/>
            <a:ext cx="2209800" cy="297434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>
              <a:lnSpc>
                <a:spcPts val="2142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02124"/>
                </a:solidFill>
                <a:latin typeface="Arial"/>
              </a:rPr>
              <a:t>Storage today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24200" y="3945636"/>
            <a:ext cx="4076700" cy="56946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>
              <a:lnSpc>
                <a:spcPts val="2142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202124"/>
                </a:solidFill>
                <a:latin typeface="Arial"/>
              </a:rPr>
              <a:t>Azure Blob Storage;</a:t>
            </a:r>
          </a:p>
          <a:p>
            <a:pPr>
              <a:lnSpc>
                <a:spcPts val="2142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202124"/>
                </a:solidFill>
                <a:latin typeface="Arial"/>
              </a:rPr>
              <a:t>Tables for email workflows.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05700" y="3945636"/>
            <a:ext cx="4076700" cy="56946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>
              <a:lnSpc>
                <a:spcPts val="2142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202124"/>
                </a:solidFill>
                <a:latin typeface="Arial"/>
              </a:rPr>
              <a:t>Local files behind BlobStore;</a:t>
            </a:r>
          </a:p>
          <a:p>
            <a:pPr>
              <a:lnSpc>
                <a:spcPts val="2142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202124"/>
                </a:solidFill>
                <a:latin typeface="Arial"/>
              </a:rPr>
              <a:t>memory adapter for tests.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" y="4705604"/>
            <a:ext cx="2209800" cy="297434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>
              <a:lnSpc>
                <a:spcPts val="2142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02124"/>
                </a:solidFill>
                <a:latin typeface="Arial"/>
              </a:rPr>
              <a:t>Who can read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24200" y="4705604"/>
            <a:ext cx="4076700" cy="56946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>
              <a:lnSpc>
                <a:spcPts val="2142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202124"/>
                </a:solidFill>
                <a:latin typeface="Arial"/>
              </a:rPr>
              <a:t>The record key enables</a:t>
            </a:r>
          </a:p>
          <a:p>
            <a:pPr>
              <a:lnSpc>
                <a:spcPts val="2142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202124"/>
                </a:solidFill>
                <a:latin typeface="Arial"/>
              </a:rPr>
              <a:t>history access.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05700" y="4705604"/>
            <a:ext cx="4076700" cy="56946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>
              <a:lnSpc>
                <a:spcPts val="2142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202124"/>
                </a:solidFill>
                <a:latin typeface="Arial"/>
              </a:rPr>
              <a:t>Patient factor AND an</a:t>
            </a:r>
          </a:p>
          <a:p>
            <a:pPr>
              <a:lnSpc>
                <a:spcPts val="2142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202124"/>
                </a:solidFill>
                <a:latin typeface="Arial"/>
              </a:rPr>
              <a:t>authorized clinician key.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5651500"/>
            <a:ext cx="10972800" cy="265430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>
              <a:lnSpc>
                <a:spcPts val="1889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D6268"/>
                </a:solidFill>
                <a:latin typeface="Arial"/>
              </a:rPr>
              <a:t>Keep the provenance idea and small storage interface; do not copy the access policy.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600" y="6464300"/>
            <a:ext cx="8636000" cy="185420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D6268"/>
                </a:solidFill>
                <a:latin typeface="Arial"/>
              </a:rPr>
              <a:t>Global Patient Record Project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64300"/>
            <a:ext cx="609600" cy="185420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D6268"/>
                </a:solidFill>
                <a:latin typeface="Arial"/>
              </a:rPr>
              <a:t>3 /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600" y="381000"/>
            <a:ext cx="10972800" cy="201422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100" b="1" dirty="0">
                <a:solidFill>
                  <a:srgbClr val="245D74"/>
                </a:solidFill>
                <a:latin typeface="Arial"/>
              </a:rPr>
              <a:t>MAKE THE IDEA CONCRETE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838200"/>
            <a:ext cx="10972800" cy="521462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>
              <a:lnSpc>
                <a:spcPts val="3906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202124"/>
                </a:solidFill>
                <a:latin typeface="Arial"/>
              </a:rPr>
              <a:t>Four use cases, with honest status labels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854200"/>
            <a:ext cx="2209800" cy="313436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>
              <a:lnSpc>
                <a:spcPts val="2268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45D74"/>
                </a:solidFill>
                <a:latin typeface="Arial"/>
              </a:rPr>
              <a:t>Situation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24200" y="1854200"/>
            <a:ext cx="4076700" cy="313436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>
              <a:lnSpc>
                <a:spcPts val="2268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45D74"/>
                </a:solidFill>
                <a:latin typeface="Arial"/>
              </a:rPr>
              <a:t>What the reviewer sees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05700" y="1854200"/>
            <a:ext cx="4076700" cy="313436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>
              <a:lnSpc>
                <a:spcPts val="2268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45D74"/>
                </a:solidFill>
                <a:latin typeface="Arial"/>
              </a:rPr>
              <a:t>Available today?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425700"/>
            <a:ext cx="2209800" cy="297434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>
              <a:lnSpc>
                <a:spcPts val="2142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02124"/>
                </a:solidFill>
                <a:latin typeface="Arial"/>
              </a:rPr>
              <a:t>First local visit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24200" y="2425700"/>
            <a:ext cx="4076700" cy="56946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>
              <a:lnSpc>
                <a:spcPts val="2142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202124"/>
                </a:solidFill>
                <a:latin typeface="Arial"/>
              </a:rPr>
              <a:t>Enroll a synthetic factor;</a:t>
            </a:r>
          </a:p>
          <a:p>
            <a:pPr>
              <a:lnSpc>
                <a:spcPts val="2142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202124"/>
                </a:solidFill>
                <a:latin typeface="Arial"/>
              </a:rPr>
              <a:t>add and read an encrypted entry.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05700" y="2425700"/>
            <a:ext cx="4076700" cy="297434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>
              <a:lnSpc>
                <a:spcPts val="2142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202124"/>
                </a:solidFill>
                <a:latin typeface="Arial"/>
              </a:rPr>
              <a:t>YES - local demo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3185668"/>
            <a:ext cx="2209800" cy="297434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>
              <a:lnSpc>
                <a:spcPts val="2142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02124"/>
                </a:solidFill>
                <a:latin typeface="Arial"/>
              </a:rPr>
              <a:t>Return locally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24200" y="3185668"/>
            <a:ext cx="4076700" cy="56946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>
              <a:lnSpc>
                <a:spcPts val="2142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202124"/>
                </a:solidFill>
                <a:latin typeface="Arial"/>
              </a:rPr>
              <a:t>Add another entry; wrong</a:t>
            </a:r>
          </a:p>
          <a:p>
            <a:pPr>
              <a:lnSpc>
                <a:spcPts val="2142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202124"/>
                </a:solidFill>
                <a:latin typeface="Arial"/>
              </a:rPr>
              <a:t>credentials cannot read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05700" y="3185668"/>
            <a:ext cx="4076700" cy="297434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>
              <a:lnSpc>
                <a:spcPts val="2142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202124"/>
                </a:solidFill>
                <a:latin typeface="Arial"/>
              </a:rPr>
              <a:t>YES - demo + denial example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3945636"/>
            <a:ext cx="2209800" cy="297434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>
              <a:lnSpc>
                <a:spcPts val="2142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02124"/>
                </a:solidFill>
                <a:latin typeface="Arial"/>
              </a:rPr>
              <a:t>Damaged history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24200" y="3945636"/>
            <a:ext cx="4076700" cy="56946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>
              <a:lnSpc>
                <a:spcPts val="2142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202124"/>
                </a:solidFill>
                <a:latin typeface="Arial"/>
              </a:rPr>
              <a:t>Changed data or a missing link</a:t>
            </a:r>
          </a:p>
          <a:p>
            <a:pPr>
              <a:lnSpc>
                <a:spcPts val="2142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202124"/>
                </a:solidFill>
                <a:latin typeface="Arial"/>
              </a:rPr>
              <a:t>causes verification to fail.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05700" y="3945636"/>
            <a:ext cx="4076700" cy="297434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>
              <a:lnSpc>
                <a:spcPts val="2142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202124"/>
                </a:solidFill>
                <a:latin typeface="Arial"/>
              </a:rPr>
              <a:t>YES - isolated service tests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" y="4705604"/>
            <a:ext cx="2209800" cy="297434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>
              <a:lnSpc>
                <a:spcPts val="2142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02124"/>
                </a:solidFill>
                <a:latin typeface="Arial"/>
              </a:rPr>
              <a:t>Another clinic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24200" y="4705604"/>
            <a:ext cx="4076700" cy="56946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>
              <a:lnSpc>
                <a:spcPts val="2142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202124"/>
                </a:solidFill>
                <a:latin typeface="Arial"/>
              </a:rPr>
              <a:t>Independent clinicians share</a:t>
            </a:r>
          </a:p>
          <a:p>
            <a:pPr>
              <a:lnSpc>
                <a:spcPts val="2142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202124"/>
                </a:solidFill>
                <a:latin typeface="Arial"/>
              </a:rPr>
              <a:t>an authorized, up-to-date history.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05700" y="4705604"/>
            <a:ext cx="4076700" cy="56946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>
              <a:lnSpc>
                <a:spcPts val="2142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202124"/>
                </a:solidFill>
                <a:latin typeface="Arial"/>
              </a:rPr>
              <a:t>NO - governance, sync,</a:t>
            </a:r>
          </a:p>
          <a:p>
            <a:pPr>
              <a:lnSpc>
                <a:spcPts val="2142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202124"/>
                </a:solidFill>
                <a:latin typeface="Arial"/>
              </a:rPr>
              <a:t>and recovery are not built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5651500"/>
            <a:ext cx="10972800" cy="265430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>
              <a:lnSpc>
                <a:spcPts val="1889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D6268"/>
                </a:solidFill>
                <a:latin typeface="Arial"/>
              </a:rPr>
              <a:t>All examples are fictional. Integrity checks do not establish clinical truth.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600" y="6464300"/>
            <a:ext cx="8636000" cy="185420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D6268"/>
                </a:solidFill>
                <a:latin typeface="Arial"/>
              </a:rPr>
              <a:t>Global Patient Record Project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64300"/>
            <a:ext cx="609600" cy="185420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D6268"/>
                </a:solidFill>
                <a:latin typeface="Arial"/>
              </a:rPr>
              <a:t>4 /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600" y="381000"/>
            <a:ext cx="10972800" cy="201422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100" b="1" dirty="0">
                <a:solidFill>
                  <a:srgbClr val="245D74"/>
                </a:solidFill>
                <a:latin typeface="Arial"/>
              </a:rPr>
              <a:t>PRODUCTION READINESS - WORK TO 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838200"/>
            <a:ext cx="10972800" cy="521462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>
              <a:lnSpc>
                <a:spcPts val="3906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202124"/>
                </a:solidFill>
                <a:latin typeface="Arial"/>
              </a:rPr>
              <a:t>What must change before real-patient use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917700"/>
            <a:ext cx="5130800" cy="3294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>
              <a:lnSpc>
                <a:spcPts val="2394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45D74"/>
                </a:solidFill>
                <a:latin typeface="Arial"/>
              </a:rPr>
              <a:t>Build the missing foundations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2527300"/>
            <a:ext cx="5041900" cy="665480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202124"/>
                </a:solidFill>
                <a:latin typeface="Arial"/>
              </a:rPr>
              <a:t>Real authorization + protected keys,</a:t>
            </a:r>
          </a:p>
          <a:p>
            <a:pPr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202124"/>
                </a:solidFill>
                <a:latin typeface="Arial"/>
              </a:rPr>
              <a:t>recovery and revocation.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3434079"/>
            <a:ext cx="5041900" cy="665480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202124"/>
                </a:solidFill>
                <a:latin typeface="Arial"/>
              </a:rPr>
              <a:t>Durable storage + safe retries,</a:t>
            </a:r>
          </a:p>
          <a:p>
            <a:pPr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202124"/>
                </a:solidFill>
                <a:latin typeface="Arial"/>
              </a:rPr>
              <a:t>backups and scoped synchronization.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4340859"/>
            <a:ext cx="5041900" cy="665480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202124"/>
                </a:solidFill>
                <a:latin typeface="Arial"/>
              </a:rPr>
              <a:t>Hardened APIs + managed devices,</a:t>
            </a:r>
          </a:p>
          <a:p>
            <a:pPr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202124"/>
                </a:solidFill>
                <a:latin typeface="Arial"/>
              </a:rPr>
              <a:t>monitoring and incident response.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51600" y="1917700"/>
            <a:ext cx="5130800" cy="3294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>
              <a:lnSpc>
                <a:spcPts val="2394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45D74"/>
                </a:solidFill>
                <a:latin typeface="Arial"/>
              </a:rPr>
              <a:t>Earn permission to use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51600" y="2527300"/>
            <a:ext cx="5041900" cy="665480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202124"/>
                </a:solidFill>
                <a:latin typeface="Arial"/>
              </a:rPr>
              <a:t>FHIR validation + safe corrections,</a:t>
            </a:r>
          </a:p>
          <a:p>
            <a:pPr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202124"/>
                </a:solidFill>
                <a:latin typeface="Arial"/>
              </a:rPr>
              <a:t>usable clinical workflows.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51600" y="3434079"/>
            <a:ext cx="5041900" cy="665480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202124"/>
                </a:solidFill>
                <a:latin typeface="Arial"/>
              </a:rPr>
              <a:t>Consent + privacy governance,</a:t>
            </a:r>
          </a:p>
          <a:p>
            <a:pPr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202124"/>
                </a:solidFill>
                <a:latin typeface="Arial"/>
              </a:rPr>
              <a:t>retention and access policies.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1600" y="4340859"/>
            <a:ext cx="5041900" cy="665480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202124"/>
                </a:solidFill>
                <a:latin typeface="Arial"/>
              </a:rPr>
              <a:t>Independent reviews + trained staff,</a:t>
            </a:r>
          </a:p>
          <a:p>
            <a:pPr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202124"/>
                </a:solidFill>
                <a:latin typeface="Arial"/>
              </a:rPr>
              <a:t>named operational owners.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5651500"/>
            <a:ext cx="10972800" cy="265430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>
              <a:lnSpc>
                <a:spcPts val="1889"/>
              </a:lnSpc>
              <a:spcBef>
                <a:spcPts val="0"/>
              </a:spcBef>
              <a:spcAft>
                <a:spcPts val="0"/>
              </a:spcAft>
            </a:pPr>
            <a:r>
              <a:rPr sz="1500" b="0" dirty="0">
                <a:solidFill>
                  <a:srgbClr val="5D6268"/>
                </a:solidFill>
                <a:latin typeface="Arial"/>
              </a:rPr>
              <a:t>First: a hardened synthetic environment. A real-patient pilot needs separate review and approval.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6464300"/>
            <a:ext cx="8636000" cy="185420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D6268"/>
                </a:solidFill>
                <a:latin typeface="Arial"/>
              </a:rPr>
              <a:t>Global Patient Record Project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64300"/>
            <a:ext cx="609600" cy="185420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D6268"/>
                </a:solidFill>
                <a:latin typeface="Arial"/>
              </a:rPr>
              <a:t>5 /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600" y="381000"/>
            <a:ext cx="10972800" cy="201422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100" b="1" dirty="0">
                <a:solidFill>
                  <a:srgbClr val="245D74"/>
                </a:solidFill>
                <a:latin typeface="Arial"/>
              </a:rPr>
              <a:t>REVIEW QUESTIONS + NEXT STEP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838200"/>
            <a:ext cx="10972800" cy="521462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>
              <a:lnSpc>
                <a:spcPts val="3906"/>
              </a:lnSpc>
              <a:spcBef>
                <a:spcPts val="0"/>
              </a:spcBef>
              <a:spcAft>
                <a:spcPts val="0"/>
              </a:spcAft>
            </a:pPr>
            <a:r>
              <a:rPr sz="3100" b="1" dirty="0">
                <a:solidFill>
                  <a:srgbClr val="202124"/>
                </a:solidFill>
                <a:latin typeface="Arial"/>
              </a:rPr>
              <a:t>where should we focus together?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917700"/>
            <a:ext cx="5130800" cy="3294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>
              <a:lnSpc>
                <a:spcPts val="2394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45D74"/>
                </a:solidFill>
                <a:latin typeface="Arial"/>
              </a:rPr>
              <a:t>Keep what is working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2527300"/>
            <a:ext cx="5041900" cy="345440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202124"/>
                </a:solidFill>
                <a:latin typeface="Arial"/>
              </a:rPr>
              <a:t>Simple code and a framework-free UI.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3114040"/>
            <a:ext cx="5041900" cy="345440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202124"/>
                </a:solidFill>
                <a:latin typeface="Arial"/>
              </a:rPr>
              <a:t>The small, provider-neutral BlobStore.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3700779"/>
            <a:ext cx="5041900" cy="345440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202124"/>
                </a:solidFill>
                <a:latin typeface="Arial"/>
              </a:rPr>
              <a:t>A clear create / append / history story.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51600" y="1917700"/>
            <a:ext cx="5130800" cy="3294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>
              <a:lnSpc>
                <a:spcPts val="2394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45D74"/>
                </a:solidFill>
                <a:latin typeface="Arial"/>
              </a:rPr>
              <a:t>Three useful decisions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51600" y="2527300"/>
            <a:ext cx="5041900" cy="345440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202124"/>
                </a:solidFill>
                <a:latin typeface="Arial"/>
              </a:rPr>
              <a:t>Does the GDT-to-patient mapping fit?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51600" y="3114040"/>
            <a:ext cx="5041900" cy="345440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202124"/>
                </a:solidFill>
                <a:latin typeface="Arial"/>
              </a:rPr>
              <a:t>Which use case deserves the next review?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1600" y="3700779"/>
            <a:ext cx="5041900" cy="665480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202124"/>
                </a:solidFill>
                <a:latin typeface="Arial"/>
              </a:rPr>
              <a:t>Could a storage contract be shared</a:t>
            </a:r>
          </a:p>
          <a:p>
            <a:pPr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202124"/>
                </a:solidFill>
                <a:latin typeface="Arial"/>
              </a:rPr>
              <a:t>while authorization stays separate?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5651500"/>
            <a:ext cx="10972800" cy="265430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>
              <a:lnSpc>
                <a:spcPts val="1889"/>
              </a:lnSpc>
              <a:spcBef>
                <a:spcPts val="0"/>
              </a:spcBef>
              <a:spcAft>
                <a:spcPts val="0"/>
              </a:spcAft>
            </a:pPr>
            <a:endParaRPr sz="1500" b="0" dirty="0">
              <a:solidFill>
                <a:srgbClr val="5D6268"/>
              </a:solidFill>
              <a:latin typeface="Arial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09600" y="6464300"/>
            <a:ext cx="8636000" cy="185420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D6268"/>
                </a:solidFill>
                <a:latin typeface="Arial"/>
              </a:rPr>
              <a:t>Global Patient Record Project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64300"/>
            <a:ext cx="609600" cy="185420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D6268"/>
                </a:solidFill>
                <a:latin typeface="Arial"/>
              </a:rPr>
              <a:t>6 /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625</Words>
  <Application>Microsoft Office PowerPoint</Application>
  <PresentationFormat>Widescreen</PresentationFormat>
  <Paragraphs>139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Global Patient Record Project | Technical presentation</dc:title>
  <dc:subject/>
  <dc:creator>Global Patient Record Project</dc:creator>
  <cp:keywords/>
  <dc:description>generated using python-pptx</dc:description>
  <cp:lastModifiedBy>Karthik Chandrasekaran</cp:lastModifiedBy>
  <cp:revision>4</cp:revision>
  <dcterms:created xsi:type="dcterms:W3CDTF">2013-01-27T09:14:16Z</dcterms:created>
  <dcterms:modified xsi:type="dcterms:W3CDTF">2026-09-16T21:30:49Z</dcterms:modified>
  <cp:category/>
</cp:coreProperties>
</file>